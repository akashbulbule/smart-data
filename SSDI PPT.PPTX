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1" r:id="rId2"/>
    <p:sldId id="302" r:id="rId3"/>
    <p:sldId id="301" r:id="rId4"/>
    <p:sldId id="266" r:id="rId5"/>
    <p:sldId id="298" r:id="rId6"/>
    <p:sldId id="300" r:id="rId7"/>
    <p:sldId id="292" r:id="rId8"/>
    <p:sldId id="304" r:id="rId9"/>
    <p:sldId id="306" r:id="rId10"/>
    <p:sldId id="305" r:id="rId11"/>
    <p:sldId id="303" r:id="rId12"/>
    <p:sldId id="293" r:id="rId13"/>
    <p:sldId id="296" r:id="rId14"/>
  </p:sldIdLst>
  <p:sldSz cx="9144000" cy="6858000" type="screen4x3"/>
  <p:notesSz cx="7010400" cy="9296400"/>
  <p:defaultTextStyle>
    <a:defPPr>
      <a:defRPr lang="en-US"/>
    </a:defPPr>
    <a:lvl1pPr algn="l" defTabSz="511175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1pPr>
    <a:lvl2pPr marL="511175" indent="-149225" algn="l" defTabSz="511175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1022350" indent="-301625" algn="l" defTabSz="511175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533525" indent="-450850" algn="l" defTabSz="511175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2046288" indent="-603250" algn="l" defTabSz="511175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62" autoAdjust="0"/>
  </p:normalViewPr>
  <p:slideViewPr>
    <p:cSldViewPr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>
            <a:lvl1pPr defTabSz="523875">
              <a:defRPr sz="1200"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>
            <a:lvl1pPr algn="r" defTabSz="523875">
              <a:defRPr sz="1200" smtClean="0"/>
            </a:lvl1pPr>
          </a:lstStyle>
          <a:p>
            <a:pPr>
              <a:defRPr/>
            </a:pPr>
            <a:fld id="{7C109162-CD95-470E-A3E2-2E0B54D0A0EF}" type="datetimeFigureOut">
              <a:rPr lang="en-US"/>
              <a:pPr>
                <a:defRPr/>
              </a:pPr>
              <a:t>4/26/2015</a:t>
            </a:fld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36" tIns="46918" rIns="93836" bIns="46918" numCol="1" anchor="b" anchorCtr="0" compatLnSpc="1">
            <a:prstTxWarp prst="textNoShape">
              <a:avLst/>
            </a:prstTxWarp>
          </a:bodyPr>
          <a:lstStyle>
            <a:lvl1pPr defTabSz="523875">
              <a:defRPr sz="1200"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836" tIns="46918" rIns="93836" bIns="46918" numCol="1" anchor="b" anchorCtr="0" compatLnSpc="1">
            <a:prstTxWarp prst="textNoShape">
              <a:avLst/>
            </a:prstTxWarp>
          </a:bodyPr>
          <a:lstStyle>
            <a:lvl1pPr algn="r" defTabSz="523875">
              <a:defRPr sz="1200" smtClean="0"/>
            </a:lvl1pPr>
          </a:lstStyle>
          <a:p>
            <a:pPr>
              <a:defRPr/>
            </a:pPr>
            <a:fld id="{366246EA-2F6A-40A0-B62F-1AEDE2BD6D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4C2688-4A09-42EF-88D7-A0C029442073}" type="datetimeFigureOut">
              <a:rPr lang="en-US"/>
              <a:pPr>
                <a:defRPr/>
              </a:pPr>
              <a:t>4/26/2015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14E2501-EE0C-4071-A1CF-AE730EAF9C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50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4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16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02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Barb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17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Barb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35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Barb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71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46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Barb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4E2501-EE0C-4071-A1CF-AE730EAF9C5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7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511175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defTabSz="5111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2pPr>
      <a:lvl3pPr algn="ctr" defTabSz="5111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3pPr>
      <a:lvl4pPr algn="ctr" defTabSz="5111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4pPr>
      <a:lvl5pPr algn="ctr" defTabSz="5111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5pPr>
      <a:lvl6pPr marL="360868" algn="ctr" defTabSz="511230" rtl="0" eaLnBrk="1" fontAlgn="base" hangingPunct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6pPr>
      <a:lvl7pPr marL="721736" algn="ctr" defTabSz="511230" rtl="0" eaLnBrk="1" fontAlgn="base" hangingPunct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7pPr>
      <a:lvl8pPr marL="1082604" algn="ctr" defTabSz="511230" rtl="0" eaLnBrk="1" fontAlgn="base" hangingPunct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8pPr>
      <a:lvl9pPr marL="1443472" algn="ctr" defTabSz="511230" rtl="0" eaLnBrk="1" fontAlgn="base" hangingPunct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82588" indent="-382588" algn="l" defTabSz="51117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830263" indent="-319088" algn="l" defTabSz="51117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ＭＳ Ｐゴシック" pitchFamily="-112" charset="-128"/>
          <a:cs typeface="ＭＳ Ｐゴシック"/>
        </a:defRPr>
      </a:lvl2pPr>
      <a:lvl3pPr marL="1277938" indent="-255588" algn="l" defTabSz="51117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ＭＳ Ｐゴシック" pitchFamily="-112" charset="-128"/>
          <a:cs typeface="ＭＳ Ｐゴシック"/>
        </a:defRPr>
      </a:lvl3pPr>
      <a:lvl4pPr marL="1790700" indent="-255588" algn="l" defTabSz="51117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ＭＳ Ｐゴシック" pitchFamily="-112" charset="-128"/>
          <a:cs typeface="ＭＳ Ｐゴシック"/>
        </a:defRPr>
      </a:lvl4pPr>
      <a:lvl5pPr marL="2301875" indent="-255588" algn="l" defTabSz="51117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ＭＳ Ｐゴシック" pitchFamily="-112" charset="-128"/>
          <a:cs typeface="ＭＳ Ｐゴシック"/>
        </a:defRPr>
      </a:lvl5pPr>
      <a:lvl6pPr marL="2815997" indent="-256000" algn="l" defTabSz="51199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27997" indent="-256000" algn="l" defTabSz="51199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39996" indent="-256000" algn="l" defTabSz="51199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51996" indent="-256000" algn="l" defTabSz="51199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1999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3999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35998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47997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997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71997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83997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95996" algn="l" defTabSz="51199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0" y="1371600"/>
            <a:ext cx="9144000" cy="30797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4000" b="1" dirty="0"/>
              <a:t>Smart data summarization </a:t>
            </a:r>
            <a:r>
              <a:rPr lang="en-US" sz="4000" b="1" dirty="0" smtClean="0"/>
              <a:t>&amp; contextualization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>Sarath </a:t>
            </a: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>Kumar </a:t>
            </a: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>Ravindran</a:t>
            </a:r>
            <a:b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</a:b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>Ritika Patil</a:t>
            </a:r>
            <a:b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</a:b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>Akash </a:t>
            </a:r>
            <a:r>
              <a:rPr lang="en-US" sz="2000" dirty="0">
                <a:latin typeface="Calibri Light" panose="020F0302020204030204" pitchFamily="34" charset="0"/>
              </a:rPr>
              <a:t>Bulbule</a:t>
            </a: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/>
            </a:r>
            <a:b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</a:br>
            <a:r>
              <a:rPr lang="en-US" sz="2000" dirty="0" smtClean="0">
                <a:latin typeface="Calibri Light" panose="020F0302020204030204" pitchFamily="34" charset="0"/>
                <a:ea typeface="ＭＳ Ｐゴシック" charset="-128"/>
                <a:cs typeface="Arial" pitchFamily="34" charset="0"/>
              </a:rPr>
              <a:t>Adarsh </a:t>
            </a:r>
            <a:r>
              <a:rPr lang="en-US" sz="2000" dirty="0">
                <a:latin typeface="Calibri Light" panose="020F0302020204030204" pitchFamily="34" charset="0"/>
              </a:rPr>
              <a:t>Manjunath</a:t>
            </a:r>
            <a:endParaRPr lang="en-US" sz="2000" i="1" dirty="0" smtClean="0">
              <a:latin typeface="Calibri Light" panose="020F0302020204030204" pitchFamily="34" charset="0"/>
              <a:ea typeface="ＭＳ Ｐゴシック" charset="-128"/>
              <a:cs typeface="Arial" pitchFamily="34" charset="0"/>
            </a:endParaRPr>
          </a:p>
        </p:txBody>
      </p:sp>
      <p:pic>
        <p:nvPicPr>
          <p:cNvPr id="1027" name="Picture 3" descr="Main Entranc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51350"/>
            <a:ext cx="9144000" cy="248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4953000" y="914400"/>
            <a:ext cx="2743200" cy="609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Problem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762000" y="2057400"/>
            <a:ext cx="80772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eorgia" pitchFamily="18" charset="0"/>
              </a:rPr>
              <a:t>Big Data sources are unprocessed and unsearchable.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eorgia" pitchFamily="18" charset="0"/>
              </a:rPr>
              <a:t>Relevant information needs to filtered out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eorgia" pitchFamily="18" charset="0"/>
              </a:rPr>
              <a:t>Data variety worsens </a:t>
            </a:r>
            <a:r>
              <a:rPr lang="en-US" sz="2400" dirty="0" smtClean="0">
                <a:latin typeface="Georgia" pitchFamily="18" charset="0"/>
              </a:rPr>
              <a:t>and complicates data extraction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eorgia" pitchFamily="18" charset="0"/>
              </a:rPr>
              <a:t>Need of method for synthesizing Big data from sources.</a:t>
            </a:r>
            <a:endParaRPr lang="en-US" sz="24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76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762000" y="2057400"/>
            <a:ext cx="807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Georgia" pitchFamily="18" charset="0"/>
              </a:rPr>
              <a:t> </a:t>
            </a:r>
            <a:endParaRPr lang="en-US" sz="2400" dirty="0">
              <a:latin typeface="Georgia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dirty="0"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58636"/>
            <a:ext cx="5499069" cy="471871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4953000" y="914400"/>
            <a:ext cx="2743200" cy="609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ＭＳ Ｐゴシック" pitchFamily="-112" charset="-128"/>
                <a:cs typeface="ＭＳ Ｐゴシック" pitchFamily="-112" charset="-128"/>
              </a:defRPr>
            </a:lvl1pPr>
            <a:lvl2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360868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6pPr>
            <a:lvl7pPr marL="721736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7pPr>
            <a:lvl8pPr marL="1082604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8pPr>
            <a:lvl9pPr marL="1443472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9pPr>
          </a:lstStyle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Solution</a:t>
            </a:r>
            <a:endParaRPr lang="en-US" sz="2800" b="1" dirty="0" smtClean="0">
              <a:latin typeface="Georgia" pitchFamily="18" charset="0"/>
              <a:ea typeface="ＭＳ Ｐゴシック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55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4953000" y="914400"/>
            <a:ext cx="2743200" cy="609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Problem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762000" y="2057400"/>
            <a:ext cx="8077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Georgia" pitchFamily="18" charset="0"/>
              </a:rPr>
              <a:t> </a:t>
            </a:r>
            <a:endParaRPr lang="en-US" sz="2400" dirty="0">
              <a:latin typeface="Georgia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dirty="0"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"/>
            <a:ext cx="9143714" cy="6857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5105400" y="906386"/>
            <a:ext cx="3581400" cy="65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Architecture</a:t>
            </a:r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1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7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5105400" y="906386"/>
            <a:ext cx="3581400" cy="65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4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Sequence Diagram</a:t>
            </a:r>
            <a:endParaRPr lang="en-US" sz="2400" b="1" dirty="0" smtClean="0">
              <a:latin typeface="Georgia" pitchFamily="18" charset="0"/>
              <a:ea typeface="ＭＳ Ｐゴシック" charset="-128"/>
              <a:cs typeface="Arial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0"/>
            <a:ext cx="91440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02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636" y="1371600"/>
            <a:ext cx="9178636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 bwMode="auto">
          <a:xfrm>
            <a:off x="5105400" y="906386"/>
            <a:ext cx="3581400" cy="65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ＭＳ Ｐゴシック" pitchFamily="-112" charset="-128"/>
                <a:cs typeface="ＭＳ Ｐゴシック" pitchFamily="-112" charset="-128"/>
              </a:defRPr>
            </a:lvl1pPr>
            <a:lvl2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360868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6pPr>
            <a:lvl7pPr marL="721736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7pPr>
            <a:lvl8pPr marL="1082604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8pPr>
            <a:lvl9pPr marL="1443472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9pPr>
          </a:lstStyle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Noun Count</a:t>
            </a:r>
            <a:endParaRPr lang="en-US" sz="2800" b="1" dirty="0" smtClean="0">
              <a:latin typeface="Georgia" pitchFamily="18" charset="0"/>
              <a:ea typeface="ＭＳ Ｐゴシック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75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auto">
          <a:xfrm>
            <a:off x="5105400" y="906386"/>
            <a:ext cx="3581400" cy="65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ＭＳ Ｐゴシック" pitchFamily="-112" charset="-128"/>
                <a:cs typeface="ＭＳ Ｐゴシック" pitchFamily="-112" charset="-128"/>
              </a:defRPr>
            </a:lvl1pPr>
            <a:lvl2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360868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6pPr>
            <a:lvl7pPr marL="721736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7pPr>
            <a:lvl8pPr marL="1082604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8pPr>
            <a:lvl9pPr marL="1443472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9pPr>
          </a:lstStyle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Top Collocations</a:t>
            </a:r>
            <a:endParaRPr lang="en-US" sz="2800" b="1" dirty="0" smtClean="0">
              <a:latin typeface="Georgia" pitchFamily="18" charset="0"/>
              <a:ea typeface="ＭＳ Ｐゴシック" charset="-128"/>
              <a:cs typeface="Arial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6111"/>
            <a:ext cx="6324600" cy="5258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096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auto">
          <a:xfrm>
            <a:off x="5105400" y="906386"/>
            <a:ext cx="3581400" cy="65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 kern="1200">
                <a:solidFill>
                  <a:schemeClr val="tx1"/>
                </a:solidFill>
                <a:latin typeface="+mj-lt"/>
                <a:ea typeface="ＭＳ Ｐゴシック" pitchFamily="-112" charset="-128"/>
                <a:cs typeface="ＭＳ Ｐゴシック" pitchFamily="-112" charset="-128"/>
              </a:defRPr>
            </a:lvl1pPr>
            <a:lvl2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2pPr>
            <a:lvl3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3pPr>
            <a:lvl4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4pPr>
            <a:lvl5pPr algn="ctr" defTabSz="511175" rtl="0" eaLnBrk="0" fontAlgn="base" hangingPunct="0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5pPr>
            <a:lvl6pPr marL="360868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6pPr>
            <a:lvl7pPr marL="721736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7pPr>
            <a:lvl8pPr marL="1082604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8pPr>
            <a:lvl9pPr marL="1443472" algn="ctr" defTabSz="511230" rtl="0" eaLnBrk="1" fontAlgn="base" hangingPunct="1">
              <a:spcBef>
                <a:spcPct val="0"/>
              </a:spcBef>
              <a:spcAft>
                <a:spcPct val="0"/>
              </a:spcAft>
              <a:defRPr sz="4900">
                <a:solidFill>
                  <a:schemeClr val="tx1"/>
                </a:solidFill>
                <a:latin typeface="Calibri" pitchFamily="-112" charset="0"/>
                <a:ea typeface="ＭＳ Ｐゴシック" pitchFamily="-112" charset="-128"/>
                <a:cs typeface="ＭＳ Ｐゴシック" pitchFamily="-112" charset="-128"/>
              </a:defRPr>
            </a:lvl9pPr>
          </a:lstStyle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Paragraph Summary</a:t>
            </a:r>
            <a:endParaRPr lang="en-US" sz="2800" b="1" dirty="0" smtClean="0">
              <a:latin typeface="Georgia" pitchFamily="18" charset="0"/>
              <a:ea typeface="ＭＳ Ｐゴシック" charset="-128"/>
              <a:cs typeface="Arial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6237"/>
            <a:ext cx="5701145" cy="54656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369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509" y="2895600"/>
            <a:ext cx="556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atin typeface="+mn-lt"/>
              </a:rPr>
              <a:t>DEMO</a:t>
            </a:r>
          </a:p>
          <a:p>
            <a:pPr algn="ctr"/>
            <a:endParaRPr lang="en-US" sz="6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238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4"/>
          <p:cNvSpPr txBox="1">
            <a:spLocks noChangeArrowheads="1"/>
          </p:cNvSpPr>
          <p:nvPr/>
        </p:nvSpPr>
        <p:spPr bwMode="auto">
          <a:xfrm>
            <a:off x="1219200" y="2133600"/>
            <a:ext cx="62484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Georgia" pitchFamily="18" charset="0"/>
              </a:rPr>
              <a:t>Designed and implemented approach for data </a:t>
            </a:r>
            <a:r>
              <a:rPr lang="en-US" sz="2000" dirty="0" smtClean="0">
                <a:latin typeface="Georgia" pitchFamily="18" charset="0"/>
              </a:rPr>
              <a:t>summarization and </a:t>
            </a:r>
            <a:r>
              <a:rPr lang="en-US" sz="2000" dirty="0" smtClean="0">
                <a:latin typeface="Georgia" pitchFamily="18" charset="0"/>
              </a:rPr>
              <a:t>contextualization</a:t>
            </a:r>
            <a:endParaRPr lang="en-US" sz="2000" dirty="0" smtClean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Georgia" pitchFamily="18" charset="0"/>
              </a:rPr>
              <a:t>Method will convert a data source to smart data</a:t>
            </a:r>
            <a:endParaRPr lang="en-US" sz="2000" dirty="0" smtClean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Georgia" pitchFamily="18" charset="0"/>
              </a:rPr>
              <a:t>Smart Data can be </a:t>
            </a:r>
            <a:r>
              <a:rPr lang="en-US" sz="2000" dirty="0" smtClean="0">
                <a:latin typeface="Georgia" pitchFamily="18" charset="0"/>
              </a:rPr>
              <a:t>searchable by search </a:t>
            </a:r>
            <a:r>
              <a:rPr lang="en-US" sz="2000" dirty="0">
                <a:latin typeface="Georgia" pitchFamily="18" charset="0"/>
              </a:rPr>
              <a:t>c</a:t>
            </a:r>
            <a:r>
              <a:rPr lang="en-US" sz="2000" dirty="0" smtClean="0">
                <a:latin typeface="Georgia" pitchFamily="18" charset="0"/>
              </a:rPr>
              <a:t>rawler</a:t>
            </a:r>
            <a:endParaRPr lang="en-US" sz="2000" dirty="0" smtClean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Georgia" pitchFamily="18" charset="0"/>
              </a:rPr>
              <a:t>Applicable on </a:t>
            </a:r>
            <a:r>
              <a:rPr lang="en-US" sz="2000" dirty="0" smtClean="0">
                <a:latin typeface="Georgia" pitchFamily="18" charset="0"/>
              </a:rPr>
              <a:t>wide range of </a:t>
            </a:r>
            <a:r>
              <a:rPr lang="en-US" sz="2000" dirty="0" smtClean="0">
                <a:latin typeface="Georgia" pitchFamily="18" charset="0"/>
              </a:rPr>
              <a:t>big data </a:t>
            </a:r>
            <a:r>
              <a:rPr lang="en-US" sz="2000" dirty="0" smtClean="0">
                <a:latin typeface="Georgia" pitchFamily="18" charset="0"/>
              </a:rPr>
              <a:t>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latin typeface="Georgia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Georgia" pitchFamily="18" charset="0"/>
            </a:endParaRPr>
          </a:p>
        </p:txBody>
      </p:sp>
      <p:sp>
        <p:nvSpPr>
          <p:cNvPr id="3075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5105400" y="906386"/>
            <a:ext cx="3581400" cy="6597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 b="1" dirty="0" smtClean="0">
                <a:latin typeface="Georgia" pitchFamily="18" charset="0"/>
                <a:ea typeface="ＭＳ Ｐゴシック" charset="-128"/>
                <a:cs typeface="Arial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736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4"/>
          <p:cNvSpPr txBox="1">
            <a:spLocks noChangeArrowheads="1"/>
          </p:cNvSpPr>
          <p:nvPr/>
        </p:nvSpPr>
        <p:spPr bwMode="auto">
          <a:xfrm>
            <a:off x="2286000" y="2819400"/>
            <a:ext cx="62484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7200" dirty="0" smtClean="0">
                <a:solidFill>
                  <a:srgbClr val="0070C0"/>
                </a:solidFill>
                <a:latin typeface="Georgia" pitchFamily="18" charset="0"/>
              </a:rPr>
              <a:t>Thank You!</a:t>
            </a:r>
          </a:p>
          <a:p>
            <a:endParaRPr lang="en-US" sz="72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7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NCCharlotte_prep for admiss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UNCCharlotte_prep for admission</Template>
  <TotalTime>1926</TotalTime>
  <Words>101</Words>
  <Application>Microsoft Office PowerPoint</Application>
  <PresentationFormat>On-screen Show (4:3)</PresentationFormat>
  <Paragraphs>38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ＭＳ Ｐゴシック</vt:lpstr>
      <vt:lpstr>Arial</vt:lpstr>
      <vt:lpstr>Calibri</vt:lpstr>
      <vt:lpstr>Calibri Light</vt:lpstr>
      <vt:lpstr>Georgia</vt:lpstr>
      <vt:lpstr>UNCCharlotte_prep for admission</vt:lpstr>
      <vt:lpstr>Smart data summarization &amp; contextualization Sarath Kumar Ravindran Ritika Patil Akash Bulbule Adarsh Manjunath</vt:lpstr>
      <vt:lpstr>Problem</vt:lpstr>
      <vt:lpstr>PowerPoint Presentation</vt:lpstr>
      <vt:lpstr>Problem</vt:lpstr>
      <vt:lpstr>Architecture</vt:lpstr>
      <vt:lpstr>PowerPoint Presentation</vt:lpstr>
      <vt:lpstr>Sequence Diagram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>UNC Charlotte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do I belong?   Claire Kirby Associate Director Undergraduate Admissions</dc:title>
  <dc:creator>Authorized User</dc:creator>
  <cp:lastModifiedBy>SARATH RAVINDRAN</cp:lastModifiedBy>
  <cp:revision>145</cp:revision>
  <cp:lastPrinted>2008-09-25T18:36:16Z</cp:lastPrinted>
  <dcterms:created xsi:type="dcterms:W3CDTF">2011-04-28T17:13:12Z</dcterms:created>
  <dcterms:modified xsi:type="dcterms:W3CDTF">2015-04-27T04:33:25Z</dcterms:modified>
</cp:coreProperties>
</file>